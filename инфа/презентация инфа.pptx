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81" r:id="rId3"/>
    <p:sldId id="282" r:id="rId4"/>
    <p:sldId id="283" r:id="rId5"/>
    <p:sldId id="442" r:id="rId6"/>
    <p:sldId id="292" r:id="rId7"/>
    <p:sldId id="285" r:id="rId8"/>
    <p:sldId id="439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27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94494" autoAdjust="0"/>
  </p:normalViewPr>
  <p:slideViewPr>
    <p:cSldViewPr snapToGrid="0">
      <p:cViewPr varScale="1">
        <p:scale>
          <a:sx n="113" d="100"/>
          <a:sy n="113" d="100"/>
        </p:scale>
        <p:origin x="8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9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534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987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817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555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81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10.11.2025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693334"/>
            <a:ext cx="10854267" cy="1591733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ru-RU" b="1" dirty="0">
                <a:solidFill>
                  <a:srgbClr val="000000"/>
                </a:solidFill>
                <a:ea typeface="Inter Bold" pitchFamily="34" charset="-122"/>
              </a:rPr>
              <a:t>Лабораторная работа по информационным технологиям по теме первое поколение ЭВМ</a:t>
            </a:r>
            <a:br>
              <a:rPr lang="ru-RU" b="0" i="0" dirty="0">
                <a:solidFill>
                  <a:srgbClr val="000000"/>
                </a:solidFill>
                <a:effectLst/>
                <a:latin typeface="NekstRegular"/>
              </a:rPr>
            </a:br>
            <a:br>
              <a:rPr lang="ru-RU" sz="6000" b="1" dirty="0">
                <a:solidFill>
                  <a:srgbClr val="000000"/>
                </a:solidFill>
                <a:ea typeface="Inter Bold" pitchFamily="34" charset="-122"/>
              </a:rPr>
            </a:b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AE6CD4-E566-7D8F-F21B-47BB81B81C7B}"/>
              </a:ext>
            </a:extLst>
          </p:cNvPr>
          <p:cNvSpPr txBox="1"/>
          <p:nvPr/>
        </p:nvSpPr>
        <p:spPr>
          <a:xfrm>
            <a:off x="8492066" y="5884333"/>
            <a:ext cx="3894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Выполнил студент группы 135-2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Величко С.В.</a:t>
            </a: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ts val="5050"/>
              </a:lnSpc>
              <a:buNone/>
            </a:pP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такое ЭВМ</a:t>
            </a: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E24752-DB34-14F9-1F89-076AD2048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3" y="1438103"/>
            <a:ext cx="8229600" cy="4525963"/>
          </a:xfrm>
        </p:spPr>
        <p:txBody>
          <a:bodyPr/>
          <a:lstStyle/>
          <a:p>
            <a:r>
              <a:rPr lang="ru-RU"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ЭВМ — электронно-вычислительная машина, устройство для автоматической обработки данных.</a:t>
            </a:r>
          </a:p>
          <a:p>
            <a:r>
              <a:rPr lang="ru-RU"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Первые ЭВМ появились в середине XX века и стали основой современной компьютерной техники.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D7E619-8378-A87F-9407-5FB883274F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2813934"/>
            <a:ext cx="2743200" cy="3543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0A58FA-D29F-E842-88CA-85D3877C8A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278" y="2809507"/>
            <a:ext cx="4418260" cy="354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8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BD84DAF-E152-4CBC-8AFF-9A834338369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6FDB2B52-9554-4B99-9A61-32CCCB85EA3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DAE4C93-E3CE-2758-C1E9-D11AFEFD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Период</a:t>
            </a:r>
            <a:r>
              <a:rPr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первого</a:t>
            </a:r>
            <a:r>
              <a:rPr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800" b="1" dirty="0" err="1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поколения</a:t>
            </a:r>
            <a:endParaRPr sz="28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9F348EE-B78D-2E3B-4982-D113F8E3B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Первое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поколение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ЭВМ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охватывает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1940–1950-е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годы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Основой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их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работы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служили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электронные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600" dirty="0" err="1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лампы</a:t>
            </a:r>
            <a:r>
              <a:rPr sz="1600" dirty="0">
                <a:solidFill>
                  <a:srgbClr val="27252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7E5DA5-AED9-A742-9883-0FD956603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10" y="3023457"/>
            <a:ext cx="193384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2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168E85-48C5-461D-B25B-DB5D23EB631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8A408771-9E83-4C4D-A63F-66B191D7B4A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9461A2A-A20A-7988-C016-4F32A5668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черты</a:t>
            </a:r>
            <a:r>
              <a:rPr dirty="0"/>
              <a:t> ЭВМ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поколения</a:t>
            </a:r>
            <a:endParaRPr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27843E-7A97-90BC-876F-04DD0A686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вакуумных</a:t>
            </a:r>
            <a:r>
              <a:rPr dirty="0"/>
              <a:t> </a:t>
            </a:r>
            <a:r>
              <a:rPr dirty="0" err="1"/>
              <a:t>ламп</a:t>
            </a:r>
            <a:endParaRPr dirty="0"/>
          </a:p>
          <a:p>
            <a:r>
              <a:rPr dirty="0"/>
              <a:t>• </a:t>
            </a:r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размеры</a:t>
            </a:r>
            <a:r>
              <a:rPr dirty="0"/>
              <a:t> и </a:t>
            </a:r>
            <a:r>
              <a:rPr dirty="0" err="1"/>
              <a:t>энергопотребление</a:t>
            </a:r>
            <a:endParaRPr dirty="0"/>
          </a:p>
          <a:p>
            <a:r>
              <a:rPr dirty="0"/>
              <a:t>• </a:t>
            </a:r>
            <a:r>
              <a:rPr dirty="0" err="1"/>
              <a:t>Медленная</a:t>
            </a:r>
            <a:r>
              <a:rPr dirty="0"/>
              <a:t> </a:t>
            </a:r>
            <a:r>
              <a:rPr dirty="0" err="1"/>
              <a:t>работа</a:t>
            </a:r>
            <a:endParaRPr dirty="0"/>
          </a:p>
          <a:p>
            <a:r>
              <a:rPr dirty="0"/>
              <a:t>• </a:t>
            </a:r>
            <a:r>
              <a:rPr dirty="0" err="1"/>
              <a:t>Программирование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машинных</a:t>
            </a:r>
            <a:r>
              <a:rPr dirty="0"/>
              <a:t> </a:t>
            </a:r>
            <a:r>
              <a:rPr dirty="0" err="1"/>
              <a:t>языках</a:t>
            </a:r>
            <a:endParaRPr dirty="0"/>
          </a:p>
          <a:p>
            <a:r>
              <a:rPr dirty="0"/>
              <a:t>•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постоянной</a:t>
            </a:r>
            <a:r>
              <a:rPr dirty="0"/>
              <a:t> </a:t>
            </a:r>
            <a:r>
              <a:rPr dirty="0" err="1"/>
              <a:t>памяти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843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168E85-48C5-461D-B25B-DB5D23EB631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8A408771-9E83-4C4D-A63F-66B191D7B4A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45C3832-71EA-8D3C-E94A-085F682A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ENIAC — </a:t>
            </a:r>
            <a:r>
              <a:rPr dirty="0" err="1"/>
              <a:t>первая</a:t>
            </a:r>
            <a:r>
              <a:rPr dirty="0"/>
              <a:t> ЭВМ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9264CD7-E19F-D68B-2E16-D36C2AFD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138333" cy="4824854"/>
          </a:xfrm>
        </p:spPr>
        <p:txBody>
          <a:bodyPr/>
          <a:lstStyle/>
          <a:p>
            <a:r>
              <a:rPr dirty="0"/>
              <a:t>ENIAC (Electronic Numerical Integrator and Computer) — </a:t>
            </a: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универсальная</a:t>
            </a:r>
            <a:r>
              <a:rPr dirty="0"/>
              <a:t> </a:t>
            </a:r>
            <a:r>
              <a:rPr dirty="0" err="1"/>
              <a:t>электронная</a:t>
            </a:r>
            <a:r>
              <a:rPr dirty="0"/>
              <a:t> </a:t>
            </a:r>
            <a:r>
              <a:rPr dirty="0" err="1"/>
              <a:t>вычислительная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.</a:t>
            </a:r>
          </a:p>
          <a:p>
            <a:r>
              <a:rPr dirty="0" err="1"/>
              <a:t>Создана</a:t>
            </a:r>
            <a:r>
              <a:rPr dirty="0"/>
              <a:t> в 1946 </a:t>
            </a:r>
            <a:r>
              <a:rPr dirty="0" err="1"/>
              <a:t>году</a:t>
            </a:r>
            <a:r>
              <a:rPr dirty="0"/>
              <a:t> в США </a:t>
            </a:r>
            <a:r>
              <a:rPr dirty="0" err="1"/>
              <a:t>Джоном</a:t>
            </a:r>
            <a:r>
              <a:rPr dirty="0"/>
              <a:t> </a:t>
            </a:r>
            <a:r>
              <a:rPr dirty="0" err="1"/>
              <a:t>Мочли</a:t>
            </a:r>
            <a:r>
              <a:rPr dirty="0"/>
              <a:t> и </a:t>
            </a:r>
            <a:r>
              <a:rPr dirty="0" err="1"/>
              <a:t>Преспером</a:t>
            </a:r>
            <a:r>
              <a:rPr dirty="0"/>
              <a:t> </a:t>
            </a:r>
            <a:r>
              <a:rPr dirty="0" err="1"/>
              <a:t>Эккертом</a:t>
            </a:r>
            <a:r>
              <a:rPr dirty="0"/>
              <a:t>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4FBD9DA-295C-3929-6BD9-33D379713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6F9E73-0CB1-D7F9-0045-2CDA8B9653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430" y="1600200"/>
            <a:ext cx="5295967" cy="40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1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24D012-AC18-4698-8592-2F7B14704584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Номер слайда 4">
            <a:extLst>
              <a:ext uri="{FF2B5EF4-FFF2-40B4-BE49-F238E27FC236}">
                <a16:creationId xmlns:a16="http://schemas.microsoft.com/office/drawing/2014/main" id="{ED9B3DEC-3279-4002-A744-E8879D8985B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F53A340-5E90-2F17-99E6-07C7986D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Особенности</a:t>
            </a:r>
            <a:r>
              <a:rPr dirty="0"/>
              <a:t> ENIAC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73C15D-5B1B-8DC7-2666-DE074FD37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Содержала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18 000 </a:t>
            </a:r>
            <a:r>
              <a:rPr dirty="0" err="1"/>
              <a:t>ламп</a:t>
            </a:r>
            <a:endParaRPr dirty="0"/>
          </a:p>
          <a:p>
            <a:r>
              <a:rPr dirty="0"/>
              <a:t>• </a:t>
            </a:r>
            <a:r>
              <a:rPr dirty="0" err="1"/>
              <a:t>Весила</a:t>
            </a:r>
            <a:r>
              <a:rPr dirty="0"/>
              <a:t> 30 </a:t>
            </a:r>
            <a:r>
              <a:rPr dirty="0" err="1"/>
              <a:t>тонн</a:t>
            </a:r>
            <a:endParaRPr dirty="0"/>
          </a:p>
          <a:p>
            <a:r>
              <a:rPr dirty="0"/>
              <a:t>• </a:t>
            </a:r>
            <a:r>
              <a:rPr dirty="0" err="1"/>
              <a:t>Потребляла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150 </a:t>
            </a:r>
            <a:r>
              <a:rPr dirty="0" err="1"/>
              <a:t>кВт</a:t>
            </a:r>
            <a:endParaRPr dirty="0"/>
          </a:p>
          <a:p>
            <a:r>
              <a:rPr dirty="0"/>
              <a:t>• </a:t>
            </a:r>
            <a:r>
              <a:rPr dirty="0" err="1"/>
              <a:t>Выполняла</a:t>
            </a:r>
            <a:r>
              <a:rPr dirty="0"/>
              <a:t> 5000 </a:t>
            </a:r>
            <a:r>
              <a:rPr dirty="0" err="1"/>
              <a:t>операций</a:t>
            </a:r>
            <a:r>
              <a:rPr dirty="0"/>
              <a:t> в </a:t>
            </a:r>
            <a:r>
              <a:rPr dirty="0" err="1"/>
              <a:t>секунду</a:t>
            </a:r>
            <a:endParaRPr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1F17C65-E5AE-2BF9-B351-DA526E35A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4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27F65B-6FF0-4062-ABB4-56471AC828E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18245375-0717-4315-98DC-363EBE4625B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D6FA1AB-C63D-AC67-3EB2-2327CDAB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EDSAC и </a:t>
            </a:r>
            <a:r>
              <a:rPr dirty="0" err="1"/>
              <a:t>развитие</a:t>
            </a:r>
            <a:r>
              <a:rPr dirty="0"/>
              <a:t> в </a:t>
            </a:r>
            <a:r>
              <a:rPr dirty="0" err="1"/>
              <a:t>Великобритании</a:t>
            </a:r>
            <a:endParaRPr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2026865-5296-4250-070E-BCA3446A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02667" cy="4538133"/>
          </a:xfrm>
        </p:spPr>
        <p:txBody>
          <a:bodyPr/>
          <a:lstStyle/>
          <a:p>
            <a:r>
              <a:rPr dirty="0"/>
              <a:t>EDSAC — </a:t>
            </a:r>
            <a:r>
              <a:rPr dirty="0" err="1"/>
              <a:t>первая</a:t>
            </a:r>
            <a:r>
              <a:rPr dirty="0"/>
              <a:t> ЭВМ, </a:t>
            </a:r>
            <a:r>
              <a:rPr dirty="0" err="1"/>
              <a:t>использовавшая</a:t>
            </a:r>
            <a:r>
              <a:rPr dirty="0"/>
              <a:t> </a:t>
            </a:r>
            <a:r>
              <a:rPr dirty="0" err="1"/>
              <a:t>хранимую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(1949 </a:t>
            </a:r>
            <a:r>
              <a:rPr dirty="0" err="1"/>
              <a:t>год</a:t>
            </a:r>
            <a:r>
              <a:rPr dirty="0"/>
              <a:t>).</a:t>
            </a:r>
          </a:p>
          <a:p>
            <a:r>
              <a:rPr dirty="0" err="1"/>
              <a:t>Разработана</a:t>
            </a:r>
            <a:r>
              <a:rPr dirty="0"/>
              <a:t> в </a:t>
            </a:r>
            <a:r>
              <a:rPr dirty="0" err="1"/>
              <a:t>Кембриджском</a:t>
            </a:r>
            <a:r>
              <a:rPr dirty="0"/>
              <a:t> </a:t>
            </a:r>
            <a:r>
              <a:rPr dirty="0" err="1"/>
              <a:t>университете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руководством</a:t>
            </a:r>
            <a:r>
              <a:rPr dirty="0"/>
              <a:t> </a:t>
            </a:r>
            <a:r>
              <a:rPr dirty="0" err="1"/>
              <a:t>Мориса</a:t>
            </a:r>
            <a:r>
              <a:rPr dirty="0"/>
              <a:t> </a:t>
            </a:r>
            <a:r>
              <a:rPr dirty="0" err="1"/>
              <a:t>Уилкса</a:t>
            </a:r>
            <a:r>
              <a:rPr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DE0402-8D33-0FF0-5FD0-3755837D8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225" y="1408862"/>
            <a:ext cx="6096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1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57ECFD2-06AE-4BD2-83A1-2AB56E737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73652A9-A95F-48D6-A32F-087207B0692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Номер слайда 4">
            <a:extLst>
              <a:ext uri="{FF2B5EF4-FFF2-40B4-BE49-F238E27FC236}">
                <a16:creationId xmlns:a16="http://schemas.microsoft.com/office/drawing/2014/main" id="{FE077679-ED82-45EB-ABC8-39C15A3F6A43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C3E3916-54E5-3FA4-6E98-62BD8B83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МЭСМ — </a:t>
            </a:r>
            <a:r>
              <a:rPr dirty="0" err="1"/>
              <a:t>первая</a:t>
            </a:r>
            <a:r>
              <a:rPr dirty="0"/>
              <a:t> ЭВМ в СССР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6BFB72-C0C0-877B-9C0C-4A67A5877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МЭСМ (</a:t>
            </a:r>
            <a:r>
              <a:rPr dirty="0" err="1"/>
              <a:t>Малая</a:t>
            </a:r>
            <a:r>
              <a:rPr dirty="0"/>
              <a:t> </a:t>
            </a:r>
            <a:r>
              <a:rPr dirty="0" err="1"/>
              <a:t>электронная</a:t>
            </a:r>
            <a:r>
              <a:rPr dirty="0"/>
              <a:t> </a:t>
            </a:r>
            <a:r>
              <a:rPr dirty="0" err="1"/>
              <a:t>счётная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) — </a:t>
            </a: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советская</a:t>
            </a:r>
            <a:r>
              <a:rPr dirty="0"/>
              <a:t> ЭВМ.</a:t>
            </a:r>
          </a:p>
          <a:p>
            <a:r>
              <a:rPr dirty="0" err="1"/>
              <a:t>Создана</a:t>
            </a:r>
            <a:r>
              <a:rPr dirty="0"/>
              <a:t> в 1951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руководством</a:t>
            </a:r>
            <a:r>
              <a:rPr dirty="0"/>
              <a:t> </a:t>
            </a:r>
            <a:r>
              <a:rPr dirty="0" err="1"/>
              <a:t>Сергея</a:t>
            </a:r>
            <a:r>
              <a:rPr dirty="0"/>
              <a:t> </a:t>
            </a:r>
            <a:r>
              <a:rPr dirty="0" err="1"/>
              <a:t>Лебедева</a:t>
            </a:r>
            <a:r>
              <a:rPr dirty="0"/>
              <a:t> в </a:t>
            </a:r>
            <a:r>
              <a:rPr dirty="0" err="1"/>
              <a:t>Киеве</a:t>
            </a:r>
            <a:r>
              <a:rPr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CA19F4-E543-F1C3-06CA-E616D803F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7" y="3364827"/>
            <a:ext cx="5181600" cy="324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2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F3D9E4-30B6-AF5C-B1F1-59A20A01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Джон</a:t>
            </a:r>
            <a:r>
              <a:rPr dirty="0"/>
              <a:t> </a:t>
            </a:r>
            <a:r>
              <a:rPr dirty="0" err="1"/>
              <a:t>фон</a:t>
            </a:r>
            <a:r>
              <a:rPr dirty="0"/>
              <a:t> </a:t>
            </a:r>
            <a:r>
              <a:rPr dirty="0" err="1"/>
              <a:t>Нейман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F71497-85BC-C63B-E7B9-564BE2AA7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 err="1"/>
              <a:t>Джон</a:t>
            </a:r>
            <a:r>
              <a:rPr dirty="0"/>
              <a:t> </a:t>
            </a:r>
            <a:r>
              <a:rPr dirty="0" err="1"/>
              <a:t>фон</a:t>
            </a:r>
            <a:r>
              <a:rPr dirty="0"/>
              <a:t> </a:t>
            </a:r>
            <a:r>
              <a:rPr dirty="0" err="1"/>
              <a:t>Нейман</a:t>
            </a:r>
            <a:r>
              <a:rPr dirty="0"/>
              <a:t> </a:t>
            </a:r>
            <a:r>
              <a:rPr dirty="0" err="1"/>
              <a:t>предложил</a:t>
            </a:r>
            <a:r>
              <a:rPr dirty="0"/>
              <a:t> </a:t>
            </a:r>
            <a:r>
              <a:rPr dirty="0" err="1"/>
              <a:t>архитектуру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в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компьютерах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1366AC-11C1-747B-EF1C-3E5363A90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F79BA6-9FEE-57EC-C671-BD1F90614337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A14D404B-F5C7-D74B-9491-C7FCC9288B7C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EDFAC41-1AE1-415D-8610-9D9CBC387C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225" y="1532379"/>
            <a:ext cx="34290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0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814503-6D50-8C8C-9F66-A25C4135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Технические</a:t>
            </a:r>
            <a:r>
              <a:rPr dirty="0"/>
              <a:t> </a:t>
            </a:r>
            <a:r>
              <a:rPr dirty="0" err="1"/>
              <a:t>особенности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A28123-277E-F0E8-61B7-2EF7560E4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•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перфокарт</a:t>
            </a:r>
            <a:r>
              <a:rPr dirty="0"/>
              <a:t> и </a:t>
            </a:r>
            <a:r>
              <a:rPr dirty="0" err="1"/>
              <a:t>перфолент</a:t>
            </a:r>
            <a:endParaRPr dirty="0"/>
          </a:p>
          <a:p>
            <a:r>
              <a:rPr dirty="0"/>
              <a:t>•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дисплеев</a:t>
            </a:r>
            <a:r>
              <a:rPr dirty="0"/>
              <a:t> и </a:t>
            </a:r>
            <a:r>
              <a:rPr dirty="0" err="1"/>
              <a:t>клавиатур</a:t>
            </a:r>
            <a:endParaRPr dirty="0"/>
          </a:p>
          <a:p>
            <a:r>
              <a:rPr dirty="0"/>
              <a:t>• </a:t>
            </a:r>
            <a:r>
              <a:rPr dirty="0" err="1"/>
              <a:t>Ввод</a:t>
            </a:r>
            <a:r>
              <a:rPr dirty="0"/>
              <a:t> и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занимали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E434A4-992C-C24D-063B-BD81978DF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63D663-1B03-EA8E-7D01-60E6DB9CE1F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1F74D4AC-AE6A-FC66-1B1A-38F9F6707313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339495-C40F-62DA-B45B-6591FCF26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45879"/>
            <a:ext cx="5157258" cy="291135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DBE557-857B-761C-52B5-B0C2631D0E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472" y="3445879"/>
            <a:ext cx="4143353" cy="27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8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08EC87-C6C3-8B4C-CA7A-4EB9D1E0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Программирование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FD2A6F-C5DC-F32C-94B5-0000B9DD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писались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в </a:t>
            </a:r>
            <a:r>
              <a:rPr dirty="0" err="1"/>
              <a:t>машинных</a:t>
            </a:r>
            <a:r>
              <a:rPr dirty="0"/>
              <a:t> </a:t>
            </a:r>
            <a:r>
              <a:rPr dirty="0" err="1"/>
              <a:t>кодах</a:t>
            </a:r>
            <a:r>
              <a:rPr dirty="0"/>
              <a:t>.</a:t>
            </a:r>
          </a:p>
          <a:p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частыми</a:t>
            </a:r>
            <a:r>
              <a:rPr dirty="0"/>
              <a:t>, а </a:t>
            </a:r>
            <a:r>
              <a:rPr dirty="0" err="1"/>
              <a:t>отладка</a:t>
            </a:r>
            <a:r>
              <a:rPr dirty="0"/>
              <a:t> </a:t>
            </a:r>
            <a:r>
              <a:rPr dirty="0" err="1"/>
              <a:t>занимала</a:t>
            </a:r>
            <a:r>
              <a:rPr dirty="0"/>
              <a:t> </a:t>
            </a:r>
            <a:r>
              <a:rPr dirty="0" err="1"/>
              <a:t>недели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A968BF-1CC4-6895-E464-0C76A1A3E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947791-D4C0-C8E2-225F-D5C764BBD678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190F17EE-DF84-C60B-7EA3-1E8F97C8B75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25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1554A5-9CDF-9AFC-C170-3E4933AD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Известные</a:t>
            </a:r>
            <a:r>
              <a:rPr dirty="0"/>
              <a:t> </a:t>
            </a:r>
            <a:r>
              <a:rPr dirty="0" err="1"/>
              <a:t>представители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61F526-6265-4600-DE95-8510756F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• ENIAC (США)</a:t>
            </a:r>
          </a:p>
          <a:p>
            <a:r>
              <a:rPr dirty="0"/>
              <a:t>• EDSAC (</a:t>
            </a:r>
            <a:r>
              <a:rPr dirty="0" err="1"/>
              <a:t>Великобритания</a:t>
            </a:r>
            <a:r>
              <a:rPr dirty="0"/>
              <a:t>)</a:t>
            </a:r>
          </a:p>
          <a:p>
            <a:r>
              <a:rPr dirty="0"/>
              <a:t>• UNIVAC I (США)</a:t>
            </a:r>
          </a:p>
          <a:p>
            <a:r>
              <a:rPr dirty="0"/>
              <a:t>• МЭСМ (СССР)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4D42B7-F24C-ACD4-4FF8-902C321F0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CA9EDE-E277-F980-890F-DFA81084B77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26D7C04E-697A-7173-AF4A-8D8E7408775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0FABD4-4FFD-2212-7194-CBA27D382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987" y="1685499"/>
            <a:ext cx="5131238" cy="373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5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690F44-DB50-78E5-F643-8DCA2EED3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науку</a:t>
            </a:r>
            <a:r>
              <a:rPr dirty="0"/>
              <a:t> и </a:t>
            </a:r>
            <a:r>
              <a:rPr dirty="0" err="1"/>
              <a:t>промышленность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DF23E3-3B42-EC6C-FC11-61C70FA89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 err="1"/>
              <a:t>Первые</a:t>
            </a:r>
            <a:r>
              <a:rPr dirty="0"/>
              <a:t> ЭВМ </a:t>
            </a:r>
            <a:r>
              <a:rPr dirty="0" err="1"/>
              <a:t>применялись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расчётов</a:t>
            </a:r>
            <a:r>
              <a:rPr dirty="0"/>
              <a:t> в </a:t>
            </a:r>
            <a:r>
              <a:rPr dirty="0" err="1"/>
              <a:t>физике</a:t>
            </a:r>
            <a:r>
              <a:rPr dirty="0"/>
              <a:t>, </a:t>
            </a:r>
            <a:r>
              <a:rPr dirty="0" err="1"/>
              <a:t>баллистике</a:t>
            </a:r>
            <a:r>
              <a:rPr dirty="0"/>
              <a:t>, </a:t>
            </a:r>
            <a:r>
              <a:rPr dirty="0" err="1"/>
              <a:t>ядерных</a:t>
            </a:r>
            <a:r>
              <a:rPr dirty="0"/>
              <a:t> </a:t>
            </a:r>
            <a:r>
              <a:rPr dirty="0" err="1"/>
              <a:t>исследованиях</a:t>
            </a:r>
            <a:r>
              <a:rPr dirty="0"/>
              <a:t>.</a:t>
            </a:r>
          </a:p>
          <a:p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показали</a:t>
            </a:r>
            <a:r>
              <a:rPr dirty="0"/>
              <a:t> </a:t>
            </a:r>
            <a:r>
              <a:rPr dirty="0" err="1"/>
              <a:t>огромный</a:t>
            </a:r>
            <a:r>
              <a:rPr dirty="0"/>
              <a:t> </a:t>
            </a:r>
            <a:r>
              <a:rPr dirty="0" err="1"/>
              <a:t>потенциал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техники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FBD96E-F4AD-6607-84A8-DEC839342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3E312F-DA67-69D7-C697-4CEF698C5DE8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C9FDC1C1-098A-7176-DB01-AE9389CB5C75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271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A7C685-C3B4-6AE6-7292-3CE44C1D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ко</a:t>
            </a:r>
            <a:r>
              <a:rPr dirty="0"/>
              <a:t> </a:t>
            </a:r>
            <a:r>
              <a:rPr dirty="0" err="1"/>
              <a:t>второму</a:t>
            </a:r>
            <a:r>
              <a:rPr dirty="0"/>
              <a:t> </a:t>
            </a:r>
            <a:r>
              <a:rPr dirty="0" err="1"/>
              <a:t>поколению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846BD2-E2BB-BE18-77F3-E2D04A28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К </a:t>
            </a:r>
            <a:r>
              <a:rPr dirty="0" err="1"/>
              <a:t>концу</a:t>
            </a:r>
            <a:r>
              <a:rPr dirty="0"/>
              <a:t> 1950-х </a:t>
            </a:r>
            <a:r>
              <a:rPr dirty="0" err="1"/>
              <a:t>годов</a:t>
            </a:r>
            <a:r>
              <a:rPr dirty="0"/>
              <a:t> </a:t>
            </a:r>
            <a:r>
              <a:rPr dirty="0" err="1"/>
              <a:t>вакуумные</a:t>
            </a:r>
            <a:r>
              <a:rPr dirty="0"/>
              <a:t> </a:t>
            </a:r>
            <a:r>
              <a:rPr dirty="0" err="1"/>
              <a:t>лампы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заменены</a:t>
            </a:r>
            <a:r>
              <a:rPr dirty="0"/>
              <a:t> </a:t>
            </a:r>
            <a:r>
              <a:rPr dirty="0" err="1"/>
              <a:t>транзисторами</a:t>
            </a:r>
            <a:r>
              <a:rPr dirty="0"/>
              <a:t>.</a:t>
            </a:r>
          </a:p>
          <a:p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стало</a:t>
            </a:r>
            <a:r>
              <a:rPr dirty="0"/>
              <a:t> </a:t>
            </a:r>
            <a:r>
              <a:rPr dirty="0" err="1"/>
              <a:t>началом</a:t>
            </a:r>
            <a:r>
              <a:rPr dirty="0"/>
              <a:t> </a:t>
            </a:r>
            <a:r>
              <a:rPr dirty="0" err="1"/>
              <a:t>второго</a:t>
            </a:r>
            <a:r>
              <a:rPr dirty="0"/>
              <a:t> </a:t>
            </a:r>
            <a:r>
              <a:rPr dirty="0" err="1"/>
              <a:t>поколения</a:t>
            </a:r>
            <a:r>
              <a:rPr dirty="0"/>
              <a:t> ЭВМ.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FE7286-753C-EE1B-F14B-B375008D4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95E8D3A-BEAF-FA09-153E-E90FAB05503B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173596EC-AD68-2B8C-E5B6-CEEF7B9834A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26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14AD93-46FE-9B48-57E3-5C6421CF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 err="1"/>
              <a:t>Заключение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AC03B2-BF7D-AE8F-2871-26FD855FE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769533"/>
            <a:ext cx="8229600" cy="4525963"/>
          </a:xfrm>
        </p:spPr>
        <p:txBody>
          <a:bodyPr/>
          <a:lstStyle/>
          <a:p>
            <a:r>
              <a:rPr dirty="0"/>
              <a:t>ЭВМ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поколения</a:t>
            </a:r>
            <a:r>
              <a:rPr dirty="0"/>
              <a:t> </a:t>
            </a:r>
            <a:r>
              <a:rPr dirty="0" err="1"/>
              <a:t>стали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компьютерной</a:t>
            </a:r>
            <a:r>
              <a:rPr dirty="0"/>
              <a:t> </a:t>
            </a:r>
            <a:r>
              <a:rPr dirty="0" err="1"/>
              <a:t>эры</a:t>
            </a:r>
            <a:r>
              <a:rPr dirty="0"/>
              <a:t>.</a:t>
            </a:r>
          </a:p>
          <a:p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доказали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 </a:t>
            </a:r>
            <a:r>
              <a:rPr dirty="0" err="1"/>
              <a:t>вычислений</a:t>
            </a:r>
            <a:r>
              <a:rPr dirty="0"/>
              <a:t> и </a:t>
            </a:r>
            <a:r>
              <a:rPr dirty="0" err="1"/>
              <a:t>открыли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современным</a:t>
            </a:r>
            <a:r>
              <a:rPr dirty="0"/>
              <a:t> </a:t>
            </a:r>
            <a:r>
              <a:rPr dirty="0" err="1"/>
              <a:t>компьютерам</a:t>
            </a:r>
            <a:r>
              <a:rPr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9C39A7-68CC-8961-9AC0-0DE61F5BE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989B17-734E-5D13-D291-F2217BA3A81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0330459E-B85E-8564-4C37-7E7CBF429B4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29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474090-B206-43C0-969E-36A803F3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39" y="679681"/>
            <a:ext cx="2338312" cy="661341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id="{A3A4DCCF-4674-41A6-9649-5AEFCE619344}"/>
              </a:ext>
            </a:extLst>
          </p:cNvPr>
          <p:cNvSpPr txBox="1">
            <a:spLocks/>
          </p:cNvSpPr>
          <p:nvPr/>
        </p:nvSpPr>
        <p:spPr>
          <a:xfrm>
            <a:off x="707038" y="2805752"/>
            <a:ext cx="6870555" cy="124649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СПАСИБО </a:t>
            </a:r>
            <a:b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</a:b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ЗА ВНИМАНИЕ!</a:t>
            </a:r>
            <a:endParaRPr lang="ru-RU" sz="4000" dirty="0">
              <a:latin typeface="Nekst Bold" panose="00000800000000000000" pitchFamily="2" charset="-52"/>
            </a:endParaRPr>
          </a:p>
        </p:txBody>
      </p:sp>
      <p:sp>
        <p:nvSpPr>
          <p:cNvPr id="5" name="object 25">
            <a:extLst>
              <a:ext uri="{FF2B5EF4-FFF2-40B4-BE49-F238E27FC236}">
                <a16:creationId xmlns:a16="http://schemas.microsoft.com/office/drawing/2014/main" id="{0BA81BF3-B6BE-4F52-90CF-EA69FDA6367B}"/>
              </a:ext>
            </a:extLst>
          </p:cNvPr>
          <p:cNvSpPr txBox="1"/>
          <p:nvPr/>
        </p:nvSpPr>
        <p:spPr>
          <a:xfrm>
            <a:off x="10408256" y="6005822"/>
            <a:ext cx="116089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tusur.ru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C420B5-68DA-4A04-BF66-4777E4377E6B}"/>
              </a:ext>
            </a:extLst>
          </p:cNvPr>
          <p:cNvSpPr/>
          <p:nvPr/>
        </p:nvSpPr>
        <p:spPr>
          <a:xfrm>
            <a:off x="622853" y="4857701"/>
            <a:ext cx="3521798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г. Томск, пр. Ленина, 40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85BF20-4772-4B47-9219-A3AD8B0384DD}"/>
              </a:ext>
            </a:extLst>
          </p:cNvPr>
          <p:cNvSpPr/>
          <p:nvPr/>
        </p:nvSpPr>
        <p:spPr>
          <a:xfrm>
            <a:off x="622853" y="5225233"/>
            <a:ext cx="3271537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e-mail: </a:t>
            </a: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office@tusur.ru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21469E0-94E2-443C-987A-658509CA2CD9}"/>
              </a:ext>
            </a:extLst>
          </p:cNvPr>
          <p:cNvSpPr/>
          <p:nvPr/>
        </p:nvSpPr>
        <p:spPr>
          <a:xfrm>
            <a:off x="622853" y="5592765"/>
            <a:ext cx="3119444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тел.: 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(3822) 51-05-30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8ABA92-99BC-4044-B090-7293ECA24869}"/>
              </a:ext>
            </a:extLst>
          </p:cNvPr>
          <p:cNvSpPr/>
          <p:nvPr/>
        </p:nvSpPr>
        <p:spPr>
          <a:xfrm>
            <a:off x="622853" y="5960297"/>
            <a:ext cx="26917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ru-RU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факс: 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(3822) 51-32-62</a:t>
            </a:r>
          </a:p>
        </p:txBody>
      </p:sp>
    </p:spTree>
    <p:extLst>
      <p:ext uri="{BB962C8B-B14F-4D97-AF65-F5344CB8AC3E}">
        <p14:creationId xmlns:p14="http://schemas.microsoft.com/office/powerpoint/2010/main" val="205507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411</Words>
  <Application>Microsoft Office PowerPoint</Application>
  <PresentationFormat>Широкоэкранный</PresentationFormat>
  <Paragraphs>79</Paragraphs>
  <Slides>16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Nekst Bold</vt:lpstr>
      <vt:lpstr>NekstRegular</vt:lpstr>
      <vt:lpstr>Verdana</vt:lpstr>
      <vt:lpstr>Wingdings</vt:lpstr>
      <vt:lpstr>Тема Office</vt:lpstr>
      <vt:lpstr>Лабораторная работа по информационным технологиям по теме первое поколение ЭВМ  </vt:lpstr>
      <vt:lpstr>Презентация PowerPoint</vt:lpstr>
      <vt:lpstr>Период первого поколения</vt:lpstr>
      <vt:lpstr>Основные черты ЭВМ первого поколения</vt:lpstr>
      <vt:lpstr>ENIAC — первая ЭВМ</vt:lpstr>
      <vt:lpstr>Особенности ENIAC</vt:lpstr>
      <vt:lpstr>EDSAC и развитие в Великобритании</vt:lpstr>
      <vt:lpstr>МЭСМ — первая ЭВМ в СССР</vt:lpstr>
      <vt:lpstr>Джон фон Нейман</vt:lpstr>
      <vt:lpstr>Технические особенности</vt:lpstr>
      <vt:lpstr>Программирование</vt:lpstr>
      <vt:lpstr>Известные представители</vt:lpstr>
      <vt:lpstr>Влияние на науку и промышленность</vt:lpstr>
      <vt:lpstr>Переход ко второму поколению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Семён Величко</cp:lastModifiedBy>
  <cp:revision>53</cp:revision>
  <dcterms:created xsi:type="dcterms:W3CDTF">2022-06-29T03:22:44Z</dcterms:created>
  <dcterms:modified xsi:type="dcterms:W3CDTF">2025-11-10T16:11:47Z</dcterms:modified>
</cp:coreProperties>
</file>